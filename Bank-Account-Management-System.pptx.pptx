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" charset="1" panose="020B0604020202020204"/>
      <p:regular r:id="rId18"/>
    </p:embeddedFont>
    <p:embeddedFont>
      <p:font typeface="Fira Sans" charset="1" panose="020B0503050000020004"/>
      <p:regular r:id="rId19"/>
    </p:embeddedFont>
    <p:embeddedFont>
      <p:font typeface="Fira Sans Bold" charset="1" panose="020B080305000002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8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0F1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871940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Bank Account Management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030991"/>
            <a:ext cx="944552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 web-based banking solution built with Java, HTML, CSS, and JavaScript— designed to digitize and streamline core banking operations for academic and practical use.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6815585"/>
            <a:ext cx="1759896" cy="532800"/>
            <a:chOff x="0" y="0"/>
            <a:chExt cx="2346528" cy="710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6452" cy="710438"/>
            </a:xfrm>
            <a:custGeom>
              <a:avLst/>
              <a:gdLst/>
              <a:ahLst/>
              <a:cxnLst/>
              <a:rect r="r" b="b" t="t" l="l"/>
              <a:pathLst>
                <a:path h="710438" w="2346452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301113" y="0"/>
                  </a:lnTo>
                  <a:cubicBezTo>
                    <a:pt x="2326132" y="0"/>
                    <a:pt x="2346452" y="20320"/>
                    <a:pt x="2346452" y="45339"/>
                  </a:cubicBezTo>
                  <a:lnTo>
                    <a:pt x="2346452" y="665099"/>
                  </a:lnTo>
                  <a:cubicBezTo>
                    <a:pt x="2346452" y="690118"/>
                    <a:pt x="2326132" y="710438"/>
                    <a:pt x="2301113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4D003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14720" y="6849075"/>
            <a:ext cx="2334073" cy="33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ALISHA KUMARI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889047" y="6801298"/>
            <a:ext cx="3157985" cy="561384"/>
            <a:chOff x="0" y="0"/>
            <a:chExt cx="4210647" cy="74851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10558" cy="748412"/>
            </a:xfrm>
            <a:custGeom>
              <a:avLst/>
              <a:gdLst/>
              <a:ahLst/>
              <a:cxnLst/>
              <a:rect r="r" b="b" t="t" l="l"/>
              <a:pathLst>
                <a:path h="748412" w="4210558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4164457" y="0"/>
                  </a:lnTo>
                  <a:cubicBezTo>
                    <a:pt x="4189984" y="0"/>
                    <a:pt x="4210558" y="20701"/>
                    <a:pt x="4210558" y="46101"/>
                  </a:cubicBezTo>
                  <a:lnTo>
                    <a:pt x="4210558" y="702310"/>
                  </a:lnTo>
                  <a:cubicBezTo>
                    <a:pt x="4210558" y="727837"/>
                    <a:pt x="4189857" y="748411"/>
                    <a:pt x="4164457" y="748411"/>
                  </a:cubicBezTo>
                  <a:lnTo>
                    <a:pt x="46101" y="748411"/>
                  </a:lnTo>
                  <a:cubicBezTo>
                    <a:pt x="20701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9618" r="-2" b="-59631"/>
              </a:stretch>
            </a:blipFill>
            <a:ln w="9526" cap="sq">
              <a:solidFill>
                <a:srgbClr val="FF6BD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3073451" y="6824367"/>
            <a:ext cx="3703587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FF6BD8"/>
                </a:solidFill>
                <a:latin typeface="Fira Sans"/>
                <a:ea typeface="Fira Sans"/>
                <a:cs typeface="Fira Sans"/>
                <a:sym typeface="Fira Sans"/>
              </a:rPr>
              <a:t>B.TECH FIRST YEAR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8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0F1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602734"/>
            <a:ext cx="13671356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Problem Statement &amp;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226003"/>
            <a:ext cx="44584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The Challenge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885752"/>
            <a:ext cx="7805890" cy="2660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Manual record-keeping is error-prone and slow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No real-time balance visibility for customers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Transaction tracking is fragmented and unreliable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Lack of a structured, secure account management workflow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406" y="3226003"/>
            <a:ext cx="4740031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Project Objectives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461306" y="4016426"/>
            <a:ext cx="3799284" cy="2004117"/>
          </a:xfrm>
          <a:custGeom>
            <a:avLst/>
            <a:gdLst/>
            <a:ahLst/>
            <a:cxnLst/>
            <a:rect r="r" b="b" t="t" l="l"/>
            <a:pathLst>
              <a:path h="2004117" w="3799284">
                <a:moveTo>
                  <a:pt x="0" y="0"/>
                </a:moveTo>
                <a:lnTo>
                  <a:pt x="3799285" y="0"/>
                </a:lnTo>
                <a:lnTo>
                  <a:pt x="3799285" y="2004117"/>
                </a:lnTo>
                <a:lnTo>
                  <a:pt x="0" y="20041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5" r="0" b="-12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935318" y="4242787"/>
            <a:ext cx="3003652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Automate account creation, deposits, and withdrawals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3506002" y="4016426"/>
            <a:ext cx="3799284" cy="2004117"/>
          </a:xfrm>
          <a:custGeom>
            <a:avLst/>
            <a:gdLst/>
            <a:ahLst/>
            <a:cxnLst/>
            <a:rect r="r" b="b" t="t" l="l"/>
            <a:pathLst>
              <a:path h="2004117" w="3799284">
                <a:moveTo>
                  <a:pt x="0" y="0"/>
                </a:moveTo>
                <a:lnTo>
                  <a:pt x="3799285" y="0"/>
                </a:lnTo>
                <a:lnTo>
                  <a:pt x="3799285" y="2004117"/>
                </a:lnTo>
                <a:lnTo>
                  <a:pt x="0" y="20041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5" r="0" b="-12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980023" y="4242787"/>
            <a:ext cx="3003652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Provide instant balance inquiry and transaction history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461306" y="6304064"/>
            <a:ext cx="3799284" cy="2004117"/>
          </a:xfrm>
          <a:custGeom>
            <a:avLst/>
            <a:gdLst/>
            <a:ahLst/>
            <a:cxnLst/>
            <a:rect r="r" b="b" t="t" l="l"/>
            <a:pathLst>
              <a:path h="2004117" w="3799284">
                <a:moveTo>
                  <a:pt x="0" y="0"/>
                </a:moveTo>
                <a:lnTo>
                  <a:pt x="3799285" y="0"/>
                </a:lnTo>
                <a:lnTo>
                  <a:pt x="3799285" y="2004117"/>
                </a:lnTo>
                <a:lnTo>
                  <a:pt x="0" y="20041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5" r="0" b="-12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935318" y="6530426"/>
            <a:ext cx="3003652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Ensure data persistence using file-based storage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3506002" y="6304064"/>
            <a:ext cx="3799284" cy="2004117"/>
          </a:xfrm>
          <a:custGeom>
            <a:avLst/>
            <a:gdLst/>
            <a:ahLst/>
            <a:cxnLst/>
            <a:rect r="r" b="b" t="t" l="l"/>
            <a:pathLst>
              <a:path h="2004117" w="3799284">
                <a:moveTo>
                  <a:pt x="0" y="0"/>
                </a:moveTo>
                <a:lnTo>
                  <a:pt x="3799285" y="0"/>
                </a:lnTo>
                <a:lnTo>
                  <a:pt x="3799285" y="2004117"/>
                </a:lnTo>
                <a:lnTo>
                  <a:pt x="0" y="20041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25" r="0" b="-12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980023" y="6530426"/>
            <a:ext cx="300365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Deliver a clean, menu-driven user interface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8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0F1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763934"/>
            <a:ext cx="5676900" cy="6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7"/>
              </a:lnSpc>
            </a:pPr>
            <a:r>
              <a:rPr lang="en-US" sz="37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Project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1579807"/>
            <a:ext cx="9445523" cy="5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The Bank Account Management System is a Java-based web application that replicates core banking functions — from account creation to transaction tracking — all within a secure, file-backed environment.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238" y="2252367"/>
            <a:ext cx="9445523" cy="1709738"/>
            <a:chOff x="0" y="0"/>
            <a:chExt cx="12594031" cy="22796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94082" cy="2279650"/>
            </a:xfrm>
            <a:custGeom>
              <a:avLst/>
              <a:gdLst/>
              <a:ahLst/>
              <a:cxnLst/>
              <a:rect r="r" b="b" t="t" l="l"/>
              <a:pathLst>
                <a:path h="2279650" w="1259408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2555982" y="0"/>
                  </a:lnTo>
                  <a:cubicBezTo>
                    <a:pt x="12577063" y="0"/>
                    <a:pt x="12594082" y="17018"/>
                    <a:pt x="12594082" y="38100"/>
                  </a:cubicBezTo>
                  <a:lnTo>
                    <a:pt x="12594082" y="2241550"/>
                  </a:lnTo>
                  <a:cubicBezTo>
                    <a:pt x="12594082" y="2262632"/>
                    <a:pt x="12577063" y="2279650"/>
                    <a:pt x="12555982" y="2279650"/>
                  </a:cubicBezTo>
                  <a:lnTo>
                    <a:pt x="38100" y="2279650"/>
                  </a:lnTo>
                  <a:cubicBezTo>
                    <a:pt x="17018" y="2279650"/>
                    <a:pt x="0" y="2262632"/>
                    <a:pt x="0" y="2241550"/>
                  </a:cubicBezTo>
                  <a:close/>
                </a:path>
              </a:pathLst>
            </a:custGeom>
            <a:solidFill>
              <a:srgbClr val="2E2E2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2738" y="2442867"/>
            <a:ext cx="571500" cy="571500"/>
            <a:chOff x="0" y="0"/>
            <a:chExt cx="76200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FF6BD8"/>
            </a:solidFill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1339901" y="2600030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785" t="0" r="-1785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82738" y="3113780"/>
            <a:ext cx="2381250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Account Creation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2738" y="3497761"/>
            <a:ext cx="9064523" cy="27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Register new customers with unique account IDs and credentials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4090092"/>
            <a:ext cx="9445523" cy="1709738"/>
            <a:chOff x="0" y="0"/>
            <a:chExt cx="12594031" cy="22796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94082" cy="2279650"/>
            </a:xfrm>
            <a:custGeom>
              <a:avLst/>
              <a:gdLst/>
              <a:ahLst/>
              <a:cxnLst/>
              <a:rect r="r" b="b" t="t" l="l"/>
              <a:pathLst>
                <a:path h="2279650" w="1259408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2555982" y="0"/>
                  </a:lnTo>
                  <a:cubicBezTo>
                    <a:pt x="12577063" y="0"/>
                    <a:pt x="12594082" y="17018"/>
                    <a:pt x="12594082" y="38100"/>
                  </a:cubicBezTo>
                  <a:lnTo>
                    <a:pt x="12594082" y="2241550"/>
                  </a:lnTo>
                  <a:cubicBezTo>
                    <a:pt x="12594082" y="2262632"/>
                    <a:pt x="12577063" y="2279650"/>
                    <a:pt x="12555982" y="2279650"/>
                  </a:cubicBezTo>
                  <a:lnTo>
                    <a:pt x="38100" y="2279650"/>
                  </a:lnTo>
                  <a:cubicBezTo>
                    <a:pt x="17018" y="2279650"/>
                    <a:pt x="0" y="2262632"/>
                    <a:pt x="0" y="2241550"/>
                  </a:cubicBezTo>
                  <a:close/>
                </a:path>
              </a:pathLst>
            </a:custGeom>
            <a:solidFill>
              <a:srgbClr val="2E2E2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82738" y="4280592"/>
            <a:ext cx="571500" cy="571500"/>
            <a:chOff x="0" y="0"/>
            <a:chExt cx="762000" cy="76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FF6BD8"/>
            </a:solidFill>
          </p:spPr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1339901" y="4437755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85" t="0" r="-1785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82738" y="4951514"/>
            <a:ext cx="2571902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Deposit &amp; Withdraw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2738" y="5335486"/>
            <a:ext cx="9064523" cy="27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Process cash transactions with validation and balance updates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92238" y="5927827"/>
            <a:ext cx="9445523" cy="1709738"/>
            <a:chOff x="0" y="0"/>
            <a:chExt cx="12594031" cy="22796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594082" cy="2279650"/>
            </a:xfrm>
            <a:custGeom>
              <a:avLst/>
              <a:gdLst/>
              <a:ahLst/>
              <a:cxnLst/>
              <a:rect r="r" b="b" t="t" l="l"/>
              <a:pathLst>
                <a:path h="2279650" w="1259408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2555982" y="0"/>
                  </a:lnTo>
                  <a:cubicBezTo>
                    <a:pt x="12577063" y="0"/>
                    <a:pt x="12594082" y="17018"/>
                    <a:pt x="12594082" y="38100"/>
                  </a:cubicBezTo>
                  <a:lnTo>
                    <a:pt x="12594082" y="2241550"/>
                  </a:lnTo>
                  <a:cubicBezTo>
                    <a:pt x="12594082" y="2262632"/>
                    <a:pt x="12577063" y="2279650"/>
                    <a:pt x="12555982" y="2279650"/>
                  </a:cubicBezTo>
                  <a:lnTo>
                    <a:pt x="38100" y="2279650"/>
                  </a:lnTo>
                  <a:cubicBezTo>
                    <a:pt x="17018" y="2279650"/>
                    <a:pt x="0" y="2262632"/>
                    <a:pt x="0" y="2241550"/>
                  </a:cubicBezTo>
                  <a:close/>
                </a:path>
              </a:pathLst>
            </a:custGeom>
            <a:solidFill>
              <a:srgbClr val="2E2E2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2738" y="6118327"/>
            <a:ext cx="571500" cy="571500"/>
            <a:chOff x="0" y="0"/>
            <a:chExt cx="762000" cy="762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FF6BD8"/>
            </a:solidFill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1339901" y="6275489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8929" t="0" r="-8929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182738" y="6789239"/>
            <a:ext cx="2381250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Balance Inquiry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2738" y="7173220"/>
            <a:ext cx="9064523" cy="27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Instant access to current account balance at any time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92238" y="7765552"/>
            <a:ext cx="9445523" cy="1709738"/>
            <a:chOff x="0" y="0"/>
            <a:chExt cx="12594031" cy="22796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94082" cy="2279650"/>
            </a:xfrm>
            <a:custGeom>
              <a:avLst/>
              <a:gdLst/>
              <a:ahLst/>
              <a:cxnLst/>
              <a:rect r="r" b="b" t="t" l="l"/>
              <a:pathLst>
                <a:path h="2279650" w="12594082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12555982" y="0"/>
                  </a:lnTo>
                  <a:cubicBezTo>
                    <a:pt x="12577063" y="0"/>
                    <a:pt x="12594082" y="17018"/>
                    <a:pt x="12594082" y="38100"/>
                  </a:cubicBezTo>
                  <a:lnTo>
                    <a:pt x="12594082" y="2241550"/>
                  </a:lnTo>
                  <a:cubicBezTo>
                    <a:pt x="12594082" y="2262632"/>
                    <a:pt x="12577063" y="2279650"/>
                    <a:pt x="12555982" y="2279650"/>
                  </a:cubicBezTo>
                  <a:lnTo>
                    <a:pt x="38100" y="2279650"/>
                  </a:lnTo>
                  <a:cubicBezTo>
                    <a:pt x="17018" y="2279650"/>
                    <a:pt x="0" y="2262632"/>
                    <a:pt x="0" y="2241550"/>
                  </a:cubicBezTo>
                  <a:close/>
                </a:path>
              </a:pathLst>
            </a:custGeom>
            <a:solidFill>
              <a:srgbClr val="2E2E2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82738" y="7956052"/>
            <a:ext cx="571500" cy="571500"/>
            <a:chOff x="0" y="0"/>
            <a:chExt cx="762000" cy="762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FF6BD8"/>
            </a:solidFill>
          </p:spPr>
        </p:sp>
      </p:grpSp>
      <p:sp>
        <p:nvSpPr>
          <p:cNvPr name="Freeform 37" id="37" descr="preencoded.png"/>
          <p:cNvSpPr/>
          <p:nvPr/>
        </p:nvSpPr>
        <p:spPr>
          <a:xfrm flipH="false" flipV="false" rot="0">
            <a:off x="1339901" y="8113214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5"/>
                </a:lnTo>
                <a:lnTo>
                  <a:pt x="0" y="2571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7855" r="0" b="-17859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82738" y="8626973"/>
            <a:ext cx="2714777" cy="32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6"/>
              </a:lnSpc>
            </a:pPr>
            <a:r>
              <a:rPr lang="en-US" sz="180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Transaction History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82738" y="9010945"/>
            <a:ext cx="9064523" cy="273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"/>
              </a:lnSpc>
            </a:pPr>
            <a:r>
              <a:rPr lang="en-US" sz="15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Maintain and retrieve a complete log of all account activity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8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0F1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48978" y="828084"/>
            <a:ext cx="6562877" cy="74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Technology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8978" y="1884464"/>
            <a:ext cx="16504291" cy="37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Built with modern, widely used technologies chosen for scalability, maintainability, and a responsive user experience.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48978" y="2459241"/>
            <a:ext cx="1640529" cy="1640529"/>
            <a:chOff x="0" y="0"/>
            <a:chExt cx="2187372" cy="218737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87321" cy="2187321"/>
            </a:xfrm>
            <a:custGeom>
              <a:avLst/>
              <a:gdLst/>
              <a:ahLst/>
              <a:cxnLst/>
              <a:rect r="r" b="b" t="t" l="l"/>
              <a:pathLst>
                <a:path h="2187321" w="2187321">
                  <a:moveTo>
                    <a:pt x="0" y="0"/>
                  </a:moveTo>
                  <a:lnTo>
                    <a:pt x="2187321" y="0"/>
                  </a:lnTo>
                  <a:lnTo>
                    <a:pt x="2187321" y="2187321"/>
                  </a:lnTo>
                  <a:lnTo>
                    <a:pt x="0" y="2187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48978" y="4296223"/>
            <a:ext cx="2824162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Java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8978" y="4738097"/>
            <a:ext cx="3728590" cy="102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Backend language for building robust server-side application logic and business services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302596" y="2459241"/>
            <a:ext cx="1640529" cy="1640529"/>
            <a:chOff x="0" y="0"/>
            <a:chExt cx="2187372" cy="218737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187321" cy="2187321"/>
            </a:xfrm>
            <a:custGeom>
              <a:avLst/>
              <a:gdLst/>
              <a:ahLst/>
              <a:cxnLst/>
              <a:rect r="r" b="b" t="t" l="l"/>
              <a:pathLst>
                <a:path h="2187321" w="2187321">
                  <a:moveTo>
                    <a:pt x="0" y="0"/>
                  </a:moveTo>
                  <a:lnTo>
                    <a:pt x="2187321" y="0"/>
                  </a:lnTo>
                  <a:lnTo>
                    <a:pt x="2187321" y="2187321"/>
                  </a:lnTo>
                  <a:lnTo>
                    <a:pt x="0" y="2187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302596" y="4296223"/>
            <a:ext cx="2824162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JSON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02596" y="4738097"/>
            <a:ext cx="3728742" cy="102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Lightweight data format for exchanging structured information between application layers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56366" y="2459241"/>
            <a:ext cx="1640529" cy="1640529"/>
            <a:chOff x="0" y="0"/>
            <a:chExt cx="2187372" cy="218737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187321" cy="2187321"/>
            </a:xfrm>
            <a:custGeom>
              <a:avLst/>
              <a:gdLst/>
              <a:ahLst/>
              <a:cxnLst/>
              <a:rect r="r" b="b" t="t" l="l"/>
              <a:pathLst>
                <a:path h="2187321" w="2187321">
                  <a:moveTo>
                    <a:pt x="0" y="0"/>
                  </a:moveTo>
                  <a:lnTo>
                    <a:pt x="2187321" y="0"/>
                  </a:lnTo>
                  <a:lnTo>
                    <a:pt x="2187321" y="2187321"/>
                  </a:lnTo>
                  <a:lnTo>
                    <a:pt x="0" y="2187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256366" y="4296223"/>
            <a:ext cx="2824162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HTML / CSS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56366" y="4738097"/>
            <a:ext cx="3728742" cy="102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Frontend markup and styling for creating structured, accessible, and responsive interfaces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210137" y="2459241"/>
            <a:ext cx="1640529" cy="1640529"/>
            <a:chOff x="0" y="0"/>
            <a:chExt cx="2187372" cy="2187372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187321" cy="2187321"/>
            </a:xfrm>
            <a:custGeom>
              <a:avLst/>
              <a:gdLst/>
              <a:ahLst/>
              <a:cxnLst/>
              <a:rect r="r" b="b" t="t" l="l"/>
              <a:pathLst>
                <a:path h="2187321" w="2187321">
                  <a:moveTo>
                    <a:pt x="0" y="0"/>
                  </a:moveTo>
                  <a:lnTo>
                    <a:pt x="2187321" y="0"/>
                  </a:lnTo>
                  <a:lnTo>
                    <a:pt x="2187321" y="2187321"/>
                  </a:lnTo>
                  <a:lnTo>
                    <a:pt x="0" y="2187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210137" y="4296223"/>
            <a:ext cx="2824162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JavaScript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10137" y="4738097"/>
            <a:ext cx="3728742" cy="102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Adds interactivity, dynamic behavior, and client-side enhancements to the user interface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48978" y="6119965"/>
            <a:ext cx="1640529" cy="1640529"/>
            <a:chOff x="0" y="0"/>
            <a:chExt cx="2187372" cy="2187372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2187321" cy="2187321"/>
            </a:xfrm>
            <a:custGeom>
              <a:avLst/>
              <a:gdLst/>
              <a:ahLst/>
              <a:cxnLst/>
              <a:rect r="r" b="b" t="t" l="l"/>
              <a:pathLst>
                <a:path h="2187321" w="2187321">
                  <a:moveTo>
                    <a:pt x="0" y="0"/>
                  </a:moveTo>
                  <a:lnTo>
                    <a:pt x="2187321" y="0"/>
                  </a:lnTo>
                  <a:lnTo>
                    <a:pt x="2187321" y="2187321"/>
                  </a:lnTo>
                  <a:lnTo>
                    <a:pt x="0" y="2187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" b="-2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48978" y="7956947"/>
            <a:ext cx="3049191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MySQL / PostgreSQL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8978" y="8398821"/>
            <a:ext cx="3728590" cy="1021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17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Relational database systems for reliable data storage, querying, and application persistence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8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0F1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66055" y="828380"/>
            <a:ext cx="6594872" cy="661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66055" y="1741141"/>
            <a:ext cx="13755738" cy="57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2"/>
              </a:lnSpc>
            </a:pPr>
            <a:r>
              <a:rPr lang="en-US" sz="15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A clean layered architecture separates concerns across four distinct levels — from user interaction to persistent storage — ensuring modularity and maintainability.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266055" y="2628157"/>
            <a:ext cx="6634610" cy="6634610"/>
            <a:chOff x="0" y="0"/>
            <a:chExt cx="8846147" cy="884614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46185" cy="8846185"/>
            </a:xfrm>
            <a:custGeom>
              <a:avLst/>
              <a:gdLst/>
              <a:ahLst/>
              <a:cxnLst/>
              <a:rect r="r" b="b" t="t" l="l"/>
              <a:pathLst>
                <a:path h="8846185" w="8846185">
                  <a:moveTo>
                    <a:pt x="0" y="0"/>
                  </a:moveTo>
                  <a:lnTo>
                    <a:pt x="8846185" y="0"/>
                  </a:lnTo>
                  <a:lnTo>
                    <a:pt x="8846185" y="8846185"/>
                  </a:lnTo>
                  <a:lnTo>
                    <a:pt x="0" y="88461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396565" y="4857902"/>
            <a:ext cx="3455641" cy="330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Design Principles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96565" y="5299767"/>
            <a:ext cx="6634610" cy="1805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950" indent="-180975" lvl="1">
              <a:lnSpc>
                <a:spcPts val="2052"/>
              </a:lnSpc>
              <a:buFont typeface="Arial"/>
              <a:buChar char="•"/>
            </a:pPr>
            <a:r>
              <a:rPr lang="en-US" b="true" sz="1500">
                <a:solidFill>
                  <a:srgbClr val="E0D6DE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Separation of Concerns:</a:t>
            </a:r>
            <a:r>
              <a:rPr lang="en-US" sz="15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UI, logic, and storage are independently modular</a:t>
            </a:r>
          </a:p>
          <a:p>
            <a:pPr algn="l" marL="361950" indent="-180975" lvl="1">
              <a:lnSpc>
                <a:spcPts val="2052"/>
              </a:lnSpc>
              <a:buFont typeface="Arial"/>
              <a:buChar char="•"/>
            </a:pPr>
            <a:r>
              <a:rPr lang="en-US" b="true" sz="1500">
                <a:solidFill>
                  <a:srgbClr val="E0D6DE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Data Persistence:</a:t>
            </a:r>
            <a:r>
              <a:rPr lang="en-US" sz="15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Account records survive program restarts via file I/O</a:t>
            </a:r>
          </a:p>
          <a:p>
            <a:pPr algn="l" marL="361950" indent="-180975" lvl="1">
              <a:lnSpc>
                <a:spcPts val="2052"/>
              </a:lnSpc>
              <a:buFont typeface="Arial"/>
              <a:buChar char="•"/>
            </a:pPr>
            <a:r>
              <a:rPr lang="en-US" b="true" sz="1500">
                <a:solidFill>
                  <a:srgbClr val="E0D6DE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Input Validation:</a:t>
            </a:r>
            <a:r>
              <a:rPr lang="en-US" sz="15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Every user input is sanitized before processing</a:t>
            </a:r>
          </a:p>
          <a:p>
            <a:pPr algn="l" marL="361950" indent="-180975" lvl="1">
              <a:lnSpc>
                <a:spcPts val="2052"/>
              </a:lnSpc>
              <a:buFont typeface="Arial"/>
              <a:buChar char="•"/>
            </a:pPr>
            <a:r>
              <a:rPr lang="en-US" b="true" sz="1500">
                <a:solidFill>
                  <a:srgbClr val="E0D6DE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Error Handling:</a:t>
            </a:r>
            <a:r>
              <a:rPr lang="en-US" sz="15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Graceful failure messages for invalid operations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8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0F1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183141" y="839686"/>
            <a:ext cx="5233835" cy="577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3"/>
              </a:lnSpc>
            </a:pPr>
            <a:r>
              <a:rPr lang="en-US" sz="34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System Flowchart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83141" y="1618507"/>
            <a:ext cx="12836128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The end-to-end user journey — from authentication through operation selection to record updates and result display.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183141" y="1968694"/>
            <a:ext cx="11921728" cy="6705895"/>
            <a:chOff x="0" y="0"/>
            <a:chExt cx="15895638" cy="894119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5895574" cy="8941181"/>
            </a:xfrm>
            <a:custGeom>
              <a:avLst/>
              <a:gdLst/>
              <a:ahLst/>
              <a:cxnLst/>
              <a:rect r="r" b="b" t="t" l="l"/>
              <a:pathLst>
                <a:path h="8941181" w="15895574">
                  <a:moveTo>
                    <a:pt x="0" y="0"/>
                  </a:moveTo>
                  <a:lnTo>
                    <a:pt x="15895574" y="0"/>
                  </a:lnTo>
                  <a:lnTo>
                    <a:pt x="15895574" y="8941181"/>
                  </a:lnTo>
                  <a:lnTo>
                    <a:pt x="0" y="8941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" t="0" r="-1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183141" y="8792918"/>
            <a:ext cx="11921728" cy="497977"/>
            <a:chOff x="0" y="0"/>
            <a:chExt cx="15895638" cy="6639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895574" cy="663956"/>
            </a:xfrm>
            <a:custGeom>
              <a:avLst/>
              <a:gdLst/>
              <a:ahLst/>
              <a:cxnLst/>
              <a:rect r="r" b="b" t="t" l="l"/>
              <a:pathLst>
                <a:path h="663956" w="15895574">
                  <a:moveTo>
                    <a:pt x="0" y="34544"/>
                  </a:moveTo>
                  <a:cubicBezTo>
                    <a:pt x="0" y="15494"/>
                    <a:pt x="15494" y="0"/>
                    <a:pt x="34544" y="0"/>
                  </a:cubicBezTo>
                  <a:lnTo>
                    <a:pt x="15861030" y="0"/>
                  </a:lnTo>
                  <a:cubicBezTo>
                    <a:pt x="15880080" y="0"/>
                    <a:pt x="15895574" y="15494"/>
                    <a:pt x="15895574" y="34544"/>
                  </a:cubicBezTo>
                  <a:lnTo>
                    <a:pt x="15895574" y="629412"/>
                  </a:lnTo>
                  <a:cubicBezTo>
                    <a:pt x="15895574" y="648462"/>
                    <a:pt x="15880080" y="663956"/>
                    <a:pt x="15861030" y="663956"/>
                  </a:cubicBezTo>
                  <a:lnTo>
                    <a:pt x="34544" y="663956"/>
                  </a:lnTo>
                  <a:cubicBezTo>
                    <a:pt x="15494" y="663956"/>
                    <a:pt x="0" y="648462"/>
                    <a:pt x="0" y="629412"/>
                  </a:cubicBezTo>
                  <a:close/>
                </a:path>
              </a:pathLst>
            </a:custGeom>
            <a:solidFill>
              <a:srgbClr val="02234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355772" y="9010050"/>
            <a:ext cx="215951" cy="172641"/>
            <a:chOff x="0" y="0"/>
            <a:chExt cx="287934" cy="23018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87909" cy="230124"/>
            </a:xfrm>
            <a:custGeom>
              <a:avLst/>
              <a:gdLst/>
              <a:ahLst/>
              <a:cxnLst/>
              <a:rect r="r" b="b" t="t" l="l"/>
              <a:pathLst>
                <a:path h="230124" w="287909">
                  <a:moveTo>
                    <a:pt x="0" y="0"/>
                  </a:moveTo>
                  <a:lnTo>
                    <a:pt x="287909" y="0"/>
                  </a:lnTo>
                  <a:lnTo>
                    <a:pt x="287909" y="230124"/>
                  </a:lnTo>
                  <a:lnTo>
                    <a:pt x="0" y="230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76" t="0" r="-1085" b="-2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744363" y="8921201"/>
            <a:ext cx="12102255" cy="23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9"/>
              </a:lnSpc>
            </a:pPr>
            <a:r>
              <a:rPr lang="en-US" sz="13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All operations are atomic — if a step fails, the system rolls back and notifies the user without corrupting stored data.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8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0F1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11451"/>
            <a:ext cx="1026958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Key Features in 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726361"/>
            <a:ext cx="172179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Each feature is designed for clarity, speed, and data integrity — demonstrated through a clean console interface.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4594174"/>
            <a:ext cx="1507484" cy="931659"/>
            <a:chOff x="0" y="0"/>
            <a:chExt cx="2009978" cy="1242212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010029" cy="1242187"/>
            </a:xfrm>
            <a:custGeom>
              <a:avLst/>
              <a:gdLst/>
              <a:ahLst/>
              <a:cxnLst/>
              <a:rect r="r" b="b" t="t" l="l"/>
              <a:pathLst>
                <a:path h="1242187" w="2010029">
                  <a:moveTo>
                    <a:pt x="0" y="0"/>
                  </a:moveTo>
                  <a:lnTo>
                    <a:pt x="2010029" y="0"/>
                  </a:lnTo>
                  <a:lnTo>
                    <a:pt x="2010029" y="1242187"/>
                  </a:lnTo>
                  <a:lnTo>
                    <a:pt x="0" y="124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9" r="2" b="-18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854081" y="4565599"/>
            <a:ext cx="333642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Account Creation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54081" y="5554856"/>
            <a:ext cx="3336427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Customers register with a unique account ID, name, and initial deposit — records are saved instantly to file.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44866" y="4594174"/>
            <a:ext cx="1507484" cy="931659"/>
            <a:chOff x="0" y="0"/>
            <a:chExt cx="2009978" cy="124221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010029" cy="1242187"/>
            </a:xfrm>
            <a:custGeom>
              <a:avLst/>
              <a:gdLst/>
              <a:ahLst/>
              <a:cxnLst/>
              <a:rect r="r" b="b" t="t" l="l"/>
              <a:pathLst>
                <a:path h="1242187" w="2010029">
                  <a:moveTo>
                    <a:pt x="0" y="0"/>
                  </a:moveTo>
                  <a:lnTo>
                    <a:pt x="2010029" y="0"/>
                  </a:lnTo>
                  <a:lnTo>
                    <a:pt x="2010029" y="1242187"/>
                  </a:lnTo>
                  <a:lnTo>
                    <a:pt x="0" y="124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9" r="2" b="-18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406708" y="4565599"/>
            <a:ext cx="333642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Deposit &amp; Withdraw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406708" y="5554856"/>
            <a:ext cx="3336427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Validated cash operations update balances in real time and append entries to the transaction log.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97493" y="4594174"/>
            <a:ext cx="1507484" cy="931659"/>
            <a:chOff x="0" y="0"/>
            <a:chExt cx="2009978" cy="1242212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010029" cy="1242187"/>
            </a:xfrm>
            <a:custGeom>
              <a:avLst/>
              <a:gdLst/>
              <a:ahLst/>
              <a:cxnLst/>
              <a:rect r="r" b="b" t="t" l="l"/>
              <a:pathLst>
                <a:path h="1242187" w="2010029">
                  <a:moveTo>
                    <a:pt x="0" y="0"/>
                  </a:moveTo>
                  <a:lnTo>
                    <a:pt x="2010029" y="0"/>
                  </a:lnTo>
                  <a:lnTo>
                    <a:pt x="2010029" y="1242187"/>
                  </a:lnTo>
                  <a:lnTo>
                    <a:pt x="0" y="1242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9" r="2" b="-183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959335" y="4565599"/>
            <a:ext cx="3336427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E0D6DE"/>
                </a:solidFill>
                <a:latin typeface="Arimo"/>
                <a:ea typeface="Arimo"/>
                <a:cs typeface="Arimo"/>
                <a:sym typeface="Arimo"/>
              </a:rPr>
              <a:t>Balance &amp; Transactions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59335" y="5554856"/>
            <a:ext cx="3336427" cy="236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Users can query their current balance or review a full, timestamped history of all account activity.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8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0F1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29853"/>
            <a:ext cx="12668698" cy="90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299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Results &amp; Future Enhancements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246862"/>
            <a:ext cx="4292356" cy="45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What We Achieved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2987431"/>
            <a:ext cx="3782320" cy="1806921"/>
            <a:chOff x="0" y="0"/>
            <a:chExt cx="5043094" cy="24092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43170" cy="2409317"/>
            </a:xfrm>
            <a:custGeom>
              <a:avLst/>
              <a:gdLst/>
              <a:ahLst/>
              <a:cxnLst/>
              <a:rect r="r" b="b" t="t" l="l"/>
              <a:pathLst>
                <a:path h="2409317" w="504317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4989068" y="0"/>
                  </a:lnTo>
                  <a:cubicBezTo>
                    <a:pt x="5018913" y="0"/>
                    <a:pt x="5043170" y="24257"/>
                    <a:pt x="5043170" y="54102"/>
                  </a:cubicBezTo>
                  <a:lnTo>
                    <a:pt x="5043170" y="2355215"/>
                  </a:lnTo>
                  <a:cubicBezTo>
                    <a:pt x="5043170" y="2385060"/>
                    <a:pt x="5018913" y="2409317"/>
                    <a:pt x="4989068" y="2409317"/>
                  </a:cubicBezTo>
                  <a:lnTo>
                    <a:pt x="54102" y="2409317"/>
                  </a:lnTo>
                  <a:cubicBezTo>
                    <a:pt x="24257" y="2409190"/>
                    <a:pt x="0" y="2385060"/>
                    <a:pt x="0" y="2355215"/>
                  </a:cubicBezTo>
                  <a:close/>
                </a:path>
              </a:pathLst>
            </a:custGeom>
            <a:solidFill>
              <a:srgbClr val="2E2E2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62358" y="3181350"/>
            <a:ext cx="3242072" cy="13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✅</a:t>
            </a:r>
            <a:r>
              <a:rPr lang="en-US" sz="2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Fully functional account lifecycle management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032029" y="2987431"/>
            <a:ext cx="3782320" cy="1806921"/>
            <a:chOff x="0" y="0"/>
            <a:chExt cx="5043094" cy="24092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43170" cy="2409317"/>
            </a:xfrm>
            <a:custGeom>
              <a:avLst/>
              <a:gdLst/>
              <a:ahLst/>
              <a:cxnLst/>
              <a:rect r="r" b="b" t="t" l="l"/>
              <a:pathLst>
                <a:path h="2409317" w="504317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4989068" y="0"/>
                  </a:lnTo>
                  <a:cubicBezTo>
                    <a:pt x="5018913" y="0"/>
                    <a:pt x="5043170" y="24257"/>
                    <a:pt x="5043170" y="54102"/>
                  </a:cubicBezTo>
                  <a:lnTo>
                    <a:pt x="5043170" y="2355215"/>
                  </a:lnTo>
                  <a:cubicBezTo>
                    <a:pt x="5043170" y="2385060"/>
                    <a:pt x="5018913" y="2409317"/>
                    <a:pt x="4989068" y="2409317"/>
                  </a:cubicBezTo>
                  <a:lnTo>
                    <a:pt x="54102" y="2409317"/>
                  </a:lnTo>
                  <a:cubicBezTo>
                    <a:pt x="24257" y="2409190"/>
                    <a:pt x="0" y="2385060"/>
                    <a:pt x="0" y="2355215"/>
                  </a:cubicBezTo>
                  <a:close/>
                </a:path>
              </a:pathLst>
            </a:custGeom>
            <a:solidFill>
              <a:srgbClr val="2E2E2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302148" y="3181350"/>
            <a:ext cx="3242072" cy="13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✅</a:t>
            </a:r>
            <a:r>
              <a:rPr lang="en-US" sz="2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Zero data loss across sessions via file persistence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238" y="5051822"/>
            <a:ext cx="3782320" cy="1806921"/>
            <a:chOff x="0" y="0"/>
            <a:chExt cx="5043094" cy="24092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43170" cy="2409317"/>
            </a:xfrm>
            <a:custGeom>
              <a:avLst/>
              <a:gdLst/>
              <a:ahLst/>
              <a:cxnLst/>
              <a:rect r="r" b="b" t="t" l="l"/>
              <a:pathLst>
                <a:path h="2409317" w="504317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4989068" y="0"/>
                  </a:lnTo>
                  <a:cubicBezTo>
                    <a:pt x="5018913" y="0"/>
                    <a:pt x="5043170" y="24257"/>
                    <a:pt x="5043170" y="54102"/>
                  </a:cubicBezTo>
                  <a:lnTo>
                    <a:pt x="5043170" y="2355215"/>
                  </a:lnTo>
                  <a:cubicBezTo>
                    <a:pt x="5043170" y="2385060"/>
                    <a:pt x="5018913" y="2409317"/>
                    <a:pt x="4989068" y="2409317"/>
                  </a:cubicBezTo>
                  <a:lnTo>
                    <a:pt x="54102" y="2409317"/>
                  </a:lnTo>
                  <a:cubicBezTo>
                    <a:pt x="24257" y="2409190"/>
                    <a:pt x="0" y="2385060"/>
                    <a:pt x="0" y="2355215"/>
                  </a:cubicBezTo>
                  <a:close/>
                </a:path>
              </a:pathLst>
            </a:custGeom>
            <a:solidFill>
              <a:srgbClr val="2E2E2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62358" y="5245741"/>
            <a:ext cx="3242072" cy="13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✅</a:t>
            </a:r>
            <a:r>
              <a:rPr lang="en-US" sz="2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Input validation prevents invalid transactions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032029" y="5051822"/>
            <a:ext cx="3782320" cy="1806921"/>
            <a:chOff x="0" y="0"/>
            <a:chExt cx="5043094" cy="24092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43170" cy="2409317"/>
            </a:xfrm>
            <a:custGeom>
              <a:avLst/>
              <a:gdLst/>
              <a:ahLst/>
              <a:cxnLst/>
              <a:rect r="r" b="b" t="t" l="l"/>
              <a:pathLst>
                <a:path h="2409317" w="504317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4989068" y="0"/>
                  </a:lnTo>
                  <a:cubicBezTo>
                    <a:pt x="5018913" y="0"/>
                    <a:pt x="5043170" y="24257"/>
                    <a:pt x="5043170" y="54102"/>
                  </a:cubicBezTo>
                  <a:lnTo>
                    <a:pt x="5043170" y="2355215"/>
                  </a:lnTo>
                  <a:cubicBezTo>
                    <a:pt x="5043170" y="2385060"/>
                    <a:pt x="5018913" y="2409317"/>
                    <a:pt x="4989068" y="2409317"/>
                  </a:cubicBezTo>
                  <a:lnTo>
                    <a:pt x="54102" y="2409317"/>
                  </a:lnTo>
                  <a:cubicBezTo>
                    <a:pt x="24257" y="2409190"/>
                    <a:pt x="0" y="2385060"/>
                    <a:pt x="0" y="2355215"/>
                  </a:cubicBezTo>
                  <a:close/>
                </a:path>
              </a:pathLst>
            </a:custGeom>
            <a:solidFill>
              <a:srgbClr val="2E2E2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302148" y="5245741"/>
            <a:ext cx="3242072" cy="92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✅</a:t>
            </a:r>
            <a:r>
              <a:rPr lang="en-US" sz="2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Clean, navigable menu-driven interface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83176" y="2246862"/>
            <a:ext cx="4292356" cy="45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Roadmap Ahead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83176" y="2987431"/>
            <a:ext cx="540391" cy="337690"/>
            <a:chOff x="0" y="0"/>
            <a:chExt cx="720522" cy="4502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0525" cy="450256"/>
            </a:xfrm>
            <a:custGeom>
              <a:avLst/>
              <a:gdLst/>
              <a:ahLst/>
              <a:cxnLst/>
              <a:rect r="r" b="b" t="t" l="l"/>
              <a:pathLst>
                <a:path h="450256" w="720525">
                  <a:moveTo>
                    <a:pt x="0" y="0"/>
                  </a:moveTo>
                  <a:lnTo>
                    <a:pt x="720525" y="0"/>
                  </a:lnTo>
                  <a:lnTo>
                    <a:pt x="720525" y="450256"/>
                  </a:lnTo>
                  <a:lnTo>
                    <a:pt x="0" y="450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6" t="0" r="-30176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720522" cy="459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83176" y="3408464"/>
            <a:ext cx="7822111" cy="38100"/>
            <a:chOff x="0" y="0"/>
            <a:chExt cx="10429481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429494" cy="50800"/>
            </a:xfrm>
            <a:custGeom>
              <a:avLst/>
              <a:gdLst/>
              <a:ahLst/>
              <a:cxnLst/>
              <a:rect r="r" b="b" t="t" l="l"/>
              <a:pathLst>
                <a:path h="50800" w="10429494">
                  <a:moveTo>
                    <a:pt x="0" y="0"/>
                  </a:moveTo>
                  <a:lnTo>
                    <a:pt x="10429494" y="0"/>
                  </a:lnTo>
                  <a:lnTo>
                    <a:pt x="1042949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6BD8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483176" y="3543452"/>
            <a:ext cx="7822111" cy="49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b="true">
                <a:solidFill>
                  <a:srgbClr val="E0D6DE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Mobile App</a:t>
            </a:r>
            <a:r>
              <a:rPr lang="en-US" sz="2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— React Native frontend for on-the-go banking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83176" y="4501906"/>
            <a:ext cx="540391" cy="337690"/>
            <a:chOff x="0" y="0"/>
            <a:chExt cx="720522" cy="45025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20525" cy="450256"/>
            </a:xfrm>
            <a:custGeom>
              <a:avLst/>
              <a:gdLst/>
              <a:ahLst/>
              <a:cxnLst/>
              <a:rect r="r" b="b" t="t" l="l"/>
              <a:pathLst>
                <a:path h="450256" w="720525">
                  <a:moveTo>
                    <a:pt x="0" y="0"/>
                  </a:moveTo>
                  <a:lnTo>
                    <a:pt x="720525" y="0"/>
                  </a:lnTo>
                  <a:lnTo>
                    <a:pt x="720525" y="450256"/>
                  </a:lnTo>
                  <a:lnTo>
                    <a:pt x="0" y="450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6" t="0" r="-30176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720522" cy="459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483176" y="4922939"/>
            <a:ext cx="7822111" cy="38100"/>
            <a:chOff x="0" y="0"/>
            <a:chExt cx="10429481" cy="50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29494" cy="50800"/>
            </a:xfrm>
            <a:custGeom>
              <a:avLst/>
              <a:gdLst/>
              <a:ahLst/>
              <a:cxnLst/>
              <a:rect r="r" b="b" t="t" l="l"/>
              <a:pathLst>
                <a:path h="50800" w="10429494">
                  <a:moveTo>
                    <a:pt x="0" y="0"/>
                  </a:moveTo>
                  <a:lnTo>
                    <a:pt x="10429494" y="0"/>
                  </a:lnTo>
                  <a:lnTo>
                    <a:pt x="1042949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6BD8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483176" y="5057927"/>
            <a:ext cx="7822111" cy="49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b="true">
                <a:solidFill>
                  <a:srgbClr val="E0D6DE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OTP Verification</a:t>
            </a:r>
            <a:r>
              <a:rPr lang="en-US" sz="2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— Two-factor authentication for security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483176" y="6016381"/>
            <a:ext cx="540391" cy="337690"/>
            <a:chOff x="0" y="0"/>
            <a:chExt cx="720522" cy="45025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0525" cy="450256"/>
            </a:xfrm>
            <a:custGeom>
              <a:avLst/>
              <a:gdLst/>
              <a:ahLst/>
              <a:cxnLst/>
              <a:rect r="r" b="b" t="t" l="l"/>
              <a:pathLst>
                <a:path h="450256" w="720525">
                  <a:moveTo>
                    <a:pt x="0" y="0"/>
                  </a:moveTo>
                  <a:lnTo>
                    <a:pt x="720525" y="0"/>
                  </a:lnTo>
                  <a:lnTo>
                    <a:pt x="720525" y="450256"/>
                  </a:lnTo>
                  <a:lnTo>
                    <a:pt x="0" y="450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6" t="0" r="-3017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720522" cy="459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483176" y="6437414"/>
            <a:ext cx="7822111" cy="38100"/>
            <a:chOff x="0" y="0"/>
            <a:chExt cx="10429481" cy="50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429494" cy="50800"/>
            </a:xfrm>
            <a:custGeom>
              <a:avLst/>
              <a:gdLst/>
              <a:ahLst/>
              <a:cxnLst/>
              <a:rect r="r" b="b" t="t" l="l"/>
              <a:pathLst>
                <a:path h="50800" w="10429494">
                  <a:moveTo>
                    <a:pt x="0" y="0"/>
                  </a:moveTo>
                  <a:lnTo>
                    <a:pt x="10429494" y="0"/>
                  </a:lnTo>
                  <a:lnTo>
                    <a:pt x="1042949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6BD8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483176" y="6572402"/>
            <a:ext cx="7822111" cy="49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b="true">
                <a:solidFill>
                  <a:srgbClr val="E0D6DE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Cloud Database</a:t>
            </a:r>
            <a:r>
              <a:rPr lang="en-US" sz="2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— Migrate from files to MySQL/PostgreSQL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483176" y="7530856"/>
            <a:ext cx="540391" cy="337690"/>
            <a:chOff x="0" y="0"/>
            <a:chExt cx="720522" cy="45025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20525" cy="450256"/>
            </a:xfrm>
            <a:custGeom>
              <a:avLst/>
              <a:gdLst/>
              <a:ahLst/>
              <a:cxnLst/>
              <a:rect r="r" b="b" t="t" l="l"/>
              <a:pathLst>
                <a:path h="450256" w="720525">
                  <a:moveTo>
                    <a:pt x="0" y="0"/>
                  </a:moveTo>
                  <a:lnTo>
                    <a:pt x="720525" y="0"/>
                  </a:lnTo>
                  <a:lnTo>
                    <a:pt x="720525" y="450256"/>
                  </a:lnTo>
                  <a:lnTo>
                    <a:pt x="0" y="450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6" t="0" r="-30176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720522" cy="4597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E0D6DE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83176" y="7951889"/>
            <a:ext cx="7822111" cy="38100"/>
            <a:chOff x="0" y="0"/>
            <a:chExt cx="10429481" cy="50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429494" cy="50800"/>
            </a:xfrm>
            <a:custGeom>
              <a:avLst/>
              <a:gdLst/>
              <a:ahLst/>
              <a:cxnLst/>
              <a:rect r="r" b="b" t="t" l="l"/>
              <a:pathLst>
                <a:path h="50800" w="10429494">
                  <a:moveTo>
                    <a:pt x="0" y="0"/>
                  </a:moveTo>
                  <a:lnTo>
                    <a:pt x="10429494" y="0"/>
                  </a:lnTo>
                  <a:lnTo>
                    <a:pt x="1042949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6BD8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483176" y="8086877"/>
            <a:ext cx="7822111" cy="92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b="true">
                <a:solidFill>
                  <a:srgbClr val="E0D6DE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AI Fraud Detection</a:t>
            </a:r>
            <a:r>
              <a:rPr lang="en-US" sz="21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— Anomaly monitoring on transaction patterns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8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F0F1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38863"/>
            <a:ext cx="11970544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Conclusion &amp; Key Takeaways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753763"/>
            <a:ext cx="16303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This project demonstrates practical application of Java web development, JSON data handling, and system design — delivering a fully operational banking simulator.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152900"/>
            <a:ext cx="4527499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BF3FA"/>
                </a:solidFill>
                <a:latin typeface="Arimo"/>
                <a:ea typeface="Arimo"/>
                <a:cs typeface="Arimo"/>
                <a:sym typeface="Arimo"/>
              </a:rPr>
              <a:t>Learning Outcomes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954343"/>
            <a:ext cx="16303523" cy="220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Java fundamentals: classes, inheritance, and object-oriented design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Web development for building responsive, interactive interfaces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JSON data handling for structured data exchange and storage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Database design and integration for persistent application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7444" y="7704087"/>
            <a:ext cx="16792727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E0D6DE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Thank you for your attention.</a:t>
            </a:r>
            <a:r>
              <a:rPr lang="en-US" sz="220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DAHMYoDyq94</dc:identifier>
  <dcterms:modified xsi:type="dcterms:W3CDTF">2011-08-01T06:04:30Z</dcterms:modified>
  <cp:revision>1</cp:revision>
  <dc:title>Bank-Account-Management-System.pptx</dc:title>
</cp:coreProperties>
</file>